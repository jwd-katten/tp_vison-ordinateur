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80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5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t>Vision par Ordinateur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645920"/>
            <a:ext cx="4572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TP1 &amp; TP2 + Mini-Projet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86C1"/>
                </a:solidFill>
              </a:defRPr>
            </a:pPr>
            <a:r>
              <a:t>Traitement d'Images, CNN &amp; Détection d'Objets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749039"/>
            <a:ext cx="4572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</a:defRPr>
            </a:pPr>
            <a:r>
              <a:t>Université Sidi Mohamed Ben Abdellah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</a:defRPr>
            </a:pPr>
            <a:r>
              <a:t>École Nationale des Sciences Appliquées de Fès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</a:defRPr>
            </a:pPr>
            <a:r>
              <a:rPr dirty="0" err="1"/>
              <a:t>Filière</a:t>
            </a:r>
            <a:r>
              <a:rPr dirty="0"/>
              <a:t> </a:t>
            </a:r>
            <a:r>
              <a:rPr dirty="0" smtClean="0"/>
              <a:t>I</a:t>
            </a:r>
            <a:r>
              <a:rPr lang="fr-FR" dirty="0" smtClean="0"/>
              <a:t>DI</a:t>
            </a:r>
            <a:r>
              <a:rPr dirty="0" smtClean="0"/>
              <a:t>A </a:t>
            </a:r>
            <a:r>
              <a:rPr dirty="0"/>
              <a:t>/ </a:t>
            </a:r>
            <a:r>
              <a:rPr dirty="0" err="1"/>
              <a:t>Semestre</a:t>
            </a:r>
            <a:r>
              <a:rPr dirty="0"/>
              <a:t> </a:t>
            </a:r>
            <a:r>
              <a:rPr lang="fr-FR" dirty="0" smtClean="0"/>
              <a:t>1</a:t>
            </a:r>
            <a:r>
              <a:rPr dirty="0" smtClean="0"/>
              <a:t> </a:t>
            </a:r>
            <a:r>
              <a:rPr dirty="0"/>
              <a:t>— </a:t>
            </a:r>
            <a:r>
              <a:rPr dirty="0" err="1"/>
              <a:t>Année</a:t>
            </a:r>
            <a:r>
              <a:rPr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Réseaux de Neurones Convolutifs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CNN, Transfer Learning &amp; Détection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Exercice 1 : CNN VGG-like sur CIFAR-10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Ce qui a été fait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Dataset CIFAR-10 (60 000 images, 32×32, 10 classes)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CNN avec 3 blocs (Conv2D + MaxPool + Dropout)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Entraînement 20 epochs, optimizer Adam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Évaluation sur jeu de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Bloc 1 : Conv(32) → Conv(32) → MaxPool → Dropout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Bloc 2 : Conv(64) → Conv(64) → MaxPool → Dropout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Bloc 3 : Conv(128) → Conv(128) → MaxPool → Dropout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FC : Dense(512) → Dense(10, softmax)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Résultats — Courbe d'Accuracy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éléchar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3152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Train vs Validation Accuracy sur 20 epochs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Résultats — Courbe de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éléchargem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3152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Train vs Validation Loss sur 20 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Synthèse : Nombre d'Epochs Optimal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13716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Epochs optimaux : 12 - 15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Au-delà, le modèle commence à surapprendre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Accuracy : croissance rapide jusqu'à epoch 8-10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Puis plateau vers 78-80% sur validation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Loss : stabilisation autour de 0.6-0.7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26080"/>
            <a:ext cx="5486400" cy="3200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Recommandations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Utiliser Early Stopping (patience=5)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epochs=15 est un bon compromis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Si accuracy insuffisante 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Augmenter la profondeur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Data augmentation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Ajuster le learning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Exercice 2 : Transfer Learning — Chat vs Chien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Ce qui a été fait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Dataset Cats vs Dogs (23 262 images, 224×224)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Transfer Learning avec 4 modèles pré-entraînés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Classification binaire (Chat / Chien)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Comparaison des performances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Modèles testés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• VGG16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~138M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• MobileNetV2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~3.4M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• ResNet50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~25.6M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• EfficientNetB0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~5.3M params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Résultats — Comparaison des Modèles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41148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400" i="1">
                <a:solidFill>
                  <a:srgbClr val="2C3E50"/>
                </a:solidFill>
              </a:defRPr>
            </a:pPr>
            <a:endParaRPr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41" y="2341678"/>
            <a:ext cx="5626617" cy="2723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Mini-Projet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Détection d'Objets avec YOLOv8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Installation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Installation dans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# Installer ultralytics (YOLOv8)</a:t>
            </a:r>
            <a:br/>
            <a:r>
              <a:t>!pip install -q ultralytics</a:t>
            </a:r>
            <a:br/>
            <a:r>
              <a:t/>
            </a:r>
            <a:br/>
            <a:r>
              <a:t># Vérifier l'installation</a:t>
            </a:r>
            <a:br/>
            <a:r>
              <a:t>from ultralytics import YOLO</a:t>
            </a:r>
            <a:br/>
            <a:r>
              <a:t>print("Prêt 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Choisir une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onsolas"/>
              </a:defRPr>
            </a:pPr>
            <a:r>
              <a:t># Option 1 : URL</a:t>
            </a:r>
            <a:br/>
            <a:r>
              <a:t>import urllib.request</a:t>
            </a:r>
            <a:br/>
            <a:r>
              <a:t>url = "https://ultralytics.com/images/bus.jpg"</a:t>
            </a:r>
            <a:br/>
            <a:r>
              <a:t>urllib.request.urlretrieve(url, "image.jpg")</a:t>
            </a:r>
            <a:br/>
            <a:r>
              <a:t/>
            </a:r>
            <a:br/>
            <a:r>
              <a:t># Option 2 : Téléverser</a:t>
            </a:r>
            <a:br/>
            <a:r>
              <a:t>from google.colab import files</a:t>
            </a:r>
            <a:br/>
            <a:r>
              <a:t>uploaded = files.upload()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Explication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ultralytics : bibliothèque officielle YOLOv8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urllib.request : téléchargement depuis une URL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google.colab.files : upload depuis l'ordinateur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L'image est sauvegardée localement dans Colab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Chargement du Modèle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# Charger le modèle pré-entraîné</a:t>
            </a:r>
            <a:br/>
            <a:r>
              <a:t>model = YOLO('yolov8n.pt')</a:t>
            </a:r>
            <a:br/>
            <a:r>
              <a:t/>
            </a:r>
            <a:br/>
            <a:r>
              <a:t># Afficher les classes détectables</a:t>
            </a:r>
            <a:br/>
            <a:r>
              <a:t>print(f"Classes : {len(model.names)}")</a:t>
            </a:r>
            <a:br/>
            <a:r>
              <a:t>print(list(model.names.values())[:10])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YOLO('yolov8n.pt') : charge le modèle nano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 modèle est pré-entraîné sur COCO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COCO = 80 classes (personnes, voitures, animaux...)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 modèle est téléchargé automatiquement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Versions disponibles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• yolov8n.pt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Nano — 3.2M params — le plus rapide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• yolov8s.pt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Small — 11.2M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• yolov8m.pt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Medium — 25.9M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• yolov8x.pt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XLarge — 68.2M params — le plus précis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Lancer la Détection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# Lancer la détection</a:t>
            </a:r>
            <a:br/>
            <a:r>
              <a:t>results = model('image.jpg')</a:t>
            </a:r>
            <a:br/>
            <a:r>
              <a:t/>
            </a:r>
            <a:br/>
            <a:r>
              <a:t># Afficher le résultat avec boîtes</a:t>
            </a:r>
            <a:br/>
            <a:r>
              <a:t>annotated = results[0].plot()</a:t>
            </a:r>
            <a:br/>
            <a:r>
              <a:t/>
            </a:r>
            <a:br/>
            <a:r>
              <a:t># Afficher avec matplotlib</a:t>
            </a:r>
            <a:br/>
            <a:r>
              <a:t>plt.figure(figsize=(12, 8))</a:t>
            </a:r>
            <a:br/>
            <a:r>
              <a:t>plt.imshow(annotated[:, :, ::-1])</a:t>
            </a:r>
            <a:br/>
            <a:r>
              <a:t>plt.axis('off')</a:t>
            </a:r>
            <a:br/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model('image.jpg') : lance la détection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results est une liste d'objets Result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results[0].plot() : dessine les boîtes sur l'image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annotated[:, :, ::-1] : convertit BGR → RGB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plt.show() : affiche le résultat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Analyser les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# Récupérer les boîtes détectées</a:t>
            </a:r>
            <a:br/>
            <a:r>
              <a:t>boxes = results[0].boxes</a:t>
            </a:r>
            <a:br/>
            <a:r>
              <a:t/>
            </a:r>
            <a:br/>
            <a:r>
              <a:t># Pour chaque détection :</a:t>
            </a:r>
            <a:br/>
            <a:r>
              <a:t>for box in boxes:</a:t>
            </a:r>
            <a:br/>
            <a:r>
              <a:t>    classe = model.names[int(box.cls[0])]</a:t>
            </a:r>
            <a:br/>
            <a:r>
              <a:t>    confiance = float(box.conf[0])</a:t>
            </a:r>
            <a:br/>
            <a:r>
              <a:t>    coordonnees = box.xyxy[0].tolist()</a:t>
            </a:r>
            <a:br/>
            <a:r>
              <a:t>    print(f"{classe}: {confiance:.0%}")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boxes : tensor contenant toutes les détections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box.cls : classe de l'objet (index)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box.conf : score de confiance (0 à 1)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box.xyxy : coordonnées [x1, y1, x2, y2]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model.names : dictionnaire index → nom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Exemple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bus — confiance : 87%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person — confiance : 82%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person — confiance : 75%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Sauvegarder le Résultat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import cv2</a:t>
            </a:r>
            <a:br/>
            <a:r>
              <a:t/>
            </a:r>
            <a:br/>
            <a:r>
              <a:t># Sauvegarder l'image annotée</a:t>
            </a:r>
            <a:br/>
            <a:r>
              <a:t>cv2.imwrite('resultat.jpg', annotated)</a:t>
            </a:r>
            <a:br/>
            <a:r>
              <a:t/>
            </a:r>
            <a:br/>
            <a:r>
              <a:t>print("Image sauvegardée 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cv2.imwrite() : sauvegarde l'image en fichier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 résultat contient les boîtes dessinées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Dans Colab : télécharger depuis le panneau fichiers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Imag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805"/>
            <a:ext cx="6147099" cy="432000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14" y="1541805"/>
            <a:ext cx="619768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6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Mini-Projet —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109728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21 objets détectés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Image bus.jpg — YOLOv8n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Résumé par classe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• 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12×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confiance: 26% - 88%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• 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confiance: 54% - 85%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•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confiance: 72% - 92%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• truck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confiance: 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• handbag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1×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confiance: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Top détections (confiance &gt; 70%)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bus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(264, 112) → (365, 204)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person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(256, 278) → (280, 343)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person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560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88%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(242, 341) → (278, 408)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2880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(175, 194) → (269, 270)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5.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car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(111, 155) → (176, 192)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7.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person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72%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(327, 219) → (343, 267)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8.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3840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bus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8404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72%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3840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(368, 103) → (416, 142)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572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657600" cy="4846320"/>
          </a:xfrm>
          <a:prstGeom prst="roundRect">
            <a:avLst/>
          </a:prstGeom>
          <a:solidFill>
            <a:srgbClr val="213A5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</a:defRPr>
            </a:pPr>
            <a:r>
              <a:t>TP1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5 exercices réalisés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Conversion, filtrage, contours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Histogrammes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Classification KNN/SVM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57600" cy="4846320"/>
          </a:xfrm>
          <a:prstGeom prst="roundRect">
            <a:avLst/>
          </a:prstGeom>
          <a:solidFill>
            <a:srgbClr val="213A5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TP2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CNN VGG-like entraîné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Transfer Learning testé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4 architectures comparées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Synthèse epochs faite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657600" cy="4846320"/>
          </a:xfrm>
          <a:prstGeom prst="roundRect">
            <a:avLst/>
          </a:prstGeom>
          <a:solidFill>
            <a:srgbClr val="213A5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Mini-Projet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Détection YOLOv8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Notebook Colab créé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Résultats visuels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Application pratique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859</Words>
  <Application>Microsoft Office PowerPoint</Application>
  <PresentationFormat>Grand écran</PresentationFormat>
  <Paragraphs>177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HP Z240</cp:lastModifiedBy>
  <cp:revision>7</cp:revision>
  <dcterms:created xsi:type="dcterms:W3CDTF">2013-01-27T09:14:16Z</dcterms:created>
  <dcterms:modified xsi:type="dcterms:W3CDTF">2026-07-23T22:28:48Z</dcterms:modified>
  <cp:category/>
</cp:coreProperties>
</file>